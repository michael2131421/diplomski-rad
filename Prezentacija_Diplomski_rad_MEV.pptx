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35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C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75" y="502920"/>
            <a:ext cx="835249" cy="8281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78084" y="508565"/>
            <a:ext cx="577775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2E9F1"/>
                </a:solidFill>
                <a:latin typeface="Aptos"/>
              </a:defRPr>
            </a:pPr>
            <a:r>
              <a:rPr dirty="0"/>
              <a:t>УНИВЕРЗИТЕТ У КРАГУЈЕВЦУ • ФАКУЛТЕТ ИНЖЕЊЕРСКИХ НАУКА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88136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8FAFC"/>
                </a:solidFill>
                <a:latin typeface="Aptos Display"/>
              </a:defRPr>
            </a:pPr>
            <a:r>
              <a:rPr dirty="0"/>
              <a:t>Безбедносни изазови МЕВ напада и</a:t>
            </a:r>
          </a:p>
          <a:p>
            <a:pPr>
              <a:defRPr sz="3100" b="1">
                <a:solidFill>
                  <a:srgbClr val="3CA0BE"/>
                </a:solidFill>
                <a:latin typeface="Aptos Display"/>
              </a:defRPr>
            </a:pPr>
            <a:r>
              <a:rPr dirty="0">
                <a:solidFill>
                  <a:schemeClr val="bg1"/>
                </a:solidFill>
              </a:rPr>
              <a:t>механизми заштите корисника у децентрализованим </a:t>
            </a: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dirty="0" smtClean="0">
                <a:solidFill>
                  <a:schemeClr val="bg1"/>
                </a:solidFill>
              </a:rPr>
              <a:t>мрежама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3977639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2E9F1"/>
                </a:solidFill>
                <a:latin typeface="Aptos"/>
              </a:defRPr>
            </a:pPr>
            <a:r>
              <a:rPr dirty="0"/>
              <a:t>Завршни рад • Милан Д. Недић •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2E9F1"/>
                </a:solidFill>
                <a:latin typeface="Aptos"/>
              </a:defRPr>
            </a:pPr>
            <a:r>
              <a:t>Безбедносни изазови МЕВ напада и механизми заштите корисника у децентрализованим мрежама   •   1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324" y="508565"/>
            <a:ext cx="831760" cy="8225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C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C30"/>
                </a:solidFill>
                <a:latin typeface="Aptos Display"/>
              </a:defRPr>
            </a:pPr>
            <a:r>
              <a:t>1. Полазиште и циљ рада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A8F"/>
                </a:solidFill>
                <a:latin typeface="Aptos"/>
              </a:defRPr>
            </a:pPr>
            <a:r>
              <a:t>Зашто транспарентност блокчејна истовремено представља предност и ризик?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325880"/>
            <a:ext cx="566928" cy="566928"/>
          </a:xfrm>
          <a:prstGeom prst="ellipse">
            <a:avLst/>
          </a:prstGeom>
          <a:solidFill>
            <a:srgbClr val="3C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A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307592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C30"/>
                </a:solidFill>
                <a:latin typeface="Aptos"/>
              </a:defRPr>
            </a:pPr>
            <a:r>
              <a:t>Проблем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02B38"/>
                </a:solidFill>
                <a:latin typeface="Aptos"/>
              </a:defRPr>
            </a:pPr>
            <a:r>
              <a:t>Трансакције су видљиве пре коначног укључивања у блок.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02B38"/>
                </a:solidFill>
                <a:latin typeface="Aptos"/>
              </a:defRPr>
            </a:pPr>
            <a:r>
              <a:t>Редослед извршавања може утицати на цену и исход DeFi трансакције.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02B38"/>
                </a:solidFill>
                <a:latin typeface="Aptos"/>
              </a:defRPr>
            </a:pPr>
            <a:r>
              <a:t>MEV омогућава економску корист из контроле избора и редоследа трансакција.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800">
                <a:solidFill>
                  <a:srgbClr val="202B38"/>
                </a:solidFill>
                <a:latin typeface="Aptos"/>
              </a:defRPr>
            </a:pPr>
            <a:r>
              <a:t>Фокус рада: front-running, back-running, sandwich и механизми заштите.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965960"/>
            <a:ext cx="4800600" cy="914400"/>
          </a:xfrm>
          <a:prstGeom prst="roundRect">
            <a:avLst/>
          </a:prstGeom>
          <a:solidFill>
            <a:srgbClr val="3CA0BE"/>
          </a:solidFill>
          <a:ln>
            <a:solidFill>
              <a:srgbClr val="3C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Циљ: систематизација ризика + анализа и поређење заштите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3246120"/>
            <a:ext cx="4800600" cy="914400"/>
          </a:xfrm>
          <a:prstGeom prst="roundRect">
            <a:avLst/>
          </a:prstGeom>
          <a:solidFill>
            <a:srgbClr val="245B91"/>
          </a:solidFill>
          <a:ln>
            <a:solidFill>
              <a:srgbClr val="24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  <a:latin typeface="Aptos"/>
              </a:defRPr>
            </a:pPr>
            <a:r>
              <a:t>Корисник  →  транспарентност  →  могућност злоупотребе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4526280"/>
            <a:ext cx="4800600" cy="914400"/>
          </a:xfrm>
          <a:prstGeom prst="roundRect">
            <a:avLst/>
          </a:prstGeom>
          <a:solidFill>
            <a:srgbClr val="36825C"/>
          </a:solidFill>
          <a:ln>
            <a:solidFill>
              <a:srgbClr val="36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  <a:latin typeface="Aptos"/>
              </a:defRPr>
            </a:pPr>
            <a:r>
              <a:t>Критеријуми: безбедност • приватност • правичност • децентрализација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A8F"/>
                </a:solidFill>
                <a:latin typeface="Aptos"/>
              </a:defRPr>
            </a:pPr>
            <a:r>
              <a:t>Безбедносни изазови МЕВ напада и механизми заштите корисника у децентрализованим мрежама   •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C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C30"/>
                </a:solidFill>
                <a:latin typeface="Aptos Display"/>
              </a:defRPr>
            </a:pPr>
            <a:r>
              <a:t>2. Од трансакције до MEV-а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A8F"/>
                </a:solidFill>
                <a:latin typeface="Aptos"/>
              </a:defRPr>
            </a:pPr>
            <a:r>
              <a:t>Где настаје простор за утицај на редослед?</a:t>
            </a:r>
          </a:p>
        </p:txBody>
      </p:sp>
      <p:pic>
        <p:nvPicPr>
          <p:cNvPr id="5" name="Picture 4" descr="imag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5074920" cy="27404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508760"/>
            <a:ext cx="5532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02B38"/>
                </a:solidFill>
                <a:latin typeface="Aptos"/>
              </a:defRPr>
            </a:pPr>
            <a:r>
              <a:t>Корисник шаље и потписује трансакцију.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02B38"/>
                </a:solidFill>
                <a:latin typeface="Aptos"/>
              </a:defRPr>
            </a:pPr>
            <a:r>
              <a:t>Трансакција улази у локални mempool и шири се мрежом.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02B38"/>
                </a:solidFill>
                <a:latin typeface="Aptos"/>
              </a:defRPr>
            </a:pPr>
            <a:r>
              <a:t>Searcher анализира прилике и може конструисати трансакције/пакете.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02B38"/>
                </a:solidFill>
                <a:latin typeface="Aptos"/>
              </a:defRPr>
            </a:pPr>
            <a:r>
              <a:t>Builder гради економски оптимизован блок.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02B38"/>
                </a:solidFill>
                <a:latin typeface="Aptos"/>
              </a:defRPr>
            </a:pPr>
            <a:r>
              <a:t>Proposer бира/предлаже блок.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715000"/>
            <a:ext cx="5120640" cy="685800"/>
          </a:xfrm>
          <a:prstGeom prst="roundRect">
            <a:avLst/>
          </a:prstGeom>
          <a:solidFill>
            <a:srgbClr val="D68534"/>
          </a:solidFill>
          <a:ln>
            <a:solidFill>
              <a:srgbClr val="D68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  <a:latin typeface="Aptos"/>
              </a:defRPr>
            </a:pPr>
            <a:r>
              <a:t>Кључ: информација + редослед + економски подстицај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A8F"/>
                </a:solidFill>
                <a:latin typeface="Aptos"/>
              </a:defRPr>
            </a:pPr>
            <a:r>
              <a:t>Безбедносни изазови МЕВ напада и механизми заштите корисника у децентрализованим мрежама   •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C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C30"/>
                </a:solidFill>
                <a:latin typeface="Aptos Display"/>
              </a:defRPr>
            </a:pPr>
            <a:r>
              <a:t>3. Шта је MEV?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A8F"/>
                </a:solidFill>
                <a:latin typeface="Aptos"/>
              </a:defRPr>
            </a:pPr>
            <a:r>
              <a:t>MEV није синоним за напад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914400"/>
          </a:xfrm>
          <a:prstGeom prst="roundRect">
            <a:avLst/>
          </a:prstGeom>
          <a:solidFill>
            <a:srgbClr val="245B91"/>
          </a:solidFill>
          <a:ln>
            <a:solidFill>
              <a:srgbClr val="24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8FAFC"/>
                </a:solidFill>
                <a:latin typeface="Aptos"/>
              </a:defRPr>
            </a:pPr>
            <a:r>
              <a:t>MEV = вредност која се извлачи избором, укључивањем, изостављањем или преуређивањем трансакција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5176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02B38"/>
                </a:solidFill>
                <a:latin typeface="Aptos"/>
              </a:defRPr>
            </a:pPr>
            <a:r>
              <a:t>Корисне активности</a:t>
            </a:r>
          </a:p>
          <a:p>
            <a:pPr lvl="1"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202B38"/>
                </a:solidFill>
                <a:latin typeface="Aptos"/>
              </a:defRPr>
            </a:pPr>
            <a:r>
              <a:t>Арбитража може допринети изједначавању цена.</a:t>
            </a:r>
          </a:p>
          <a:p>
            <a:pPr lvl="1"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202B38"/>
                </a:solidFill>
                <a:latin typeface="Aptos"/>
              </a:defRPr>
            </a:pPr>
            <a:r>
              <a:t>Ликвидације могу помоћи очувању солвентности DeFi протокола.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700">
                <a:solidFill>
                  <a:srgbClr val="202B38"/>
                </a:solidFill>
                <a:latin typeface="Aptos"/>
              </a:defRPr>
            </a:pPr>
            <a:r>
              <a:t>Штетне стратегије</a:t>
            </a:r>
          </a:p>
          <a:p>
            <a:pPr lvl="1"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202B38"/>
                </a:solidFill>
                <a:latin typeface="Aptos"/>
              </a:defRPr>
            </a:pPr>
            <a:r>
              <a:t>Front-running и sandwich могу директно погоршати корисничко извршење.</a:t>
            </a:r>
          </a:p>
          <a:p>
            <a:pPr lvl="1">
              <a:lnSpc>
                <a:spcPct val="105000"/>
              </a:lnSpc>
              <a:spcAft>
                <a:spcPts val="500"/>
              </a:spcAft>
              <a:defRPr sz="1500">
                <a:solidFill>
                  <a:srgbClr val="202B38"/>
                </a:solidFill>
                <a:latin typeface="Aptos"/>
              </a:defRPr>
            </a:pPr>
            <a:r>
              <a:t>Висока конкуренција за позицију може повећати накнаде и концентрацију инфраструктуре.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5715000"/>
            <a:ext cx="7498079" cy="621792"/>
          </a:xfrm>
          <a:prstGeom prst="roundRect">
            <a:avLst/>
          </a:prstGeom>
          <a:solidFill>
            <a:srgbClr val="36825C"/>
          </a:solidFill>
          <a:ln>
            <a:solidFill>
              <a:srgbClr val="36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  <a:latin typeface="Aptos"/>
              </a:defRPr>
            </a:pPr>
            <a:r>
              <a:t>Циљ заштите није „нулти MEV“, већ смањење штетног MEV-а.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A8F"/>
                </a:solidFill>
                <a:latin typeface="Aptos"/>
              </a:defRPr>
            </a:pPr>
            <a:r>
              <a:t>Безбедносни изазови МЕВ напада и механизми заштите корисника у децентрализованим мрежама   •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C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C30"/>
                </a:solidFill>
                <a:latin typeface="Aptos Display"/>
              </a:defRPr>
            </a:pPr>
            <a:r>
              <a:t>4. Најважнији MEV напади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A8F"/>
                </a:solidFill>
                <a:latin typeface="Aptos"/>
              </a:defRPr>
            </a:pPr>
            <a:r>
              <a:t>Положај нападачке трансакције одређује стратегију</a:t>
            </a:r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6629400" cy="441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1600200"/>
            <a:ext cx="3886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202B38"/>
                </a:solidFill>
                <a:latin typeface="Aptos"/>
              </a:defRPr>
            </a:pPr>
            <a:r>
              <a:t>Front-running — нападач иде испред циљне трансакције.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202B38"/>
                </a:solidFill>
                <a:latin typeface="Aptos"/>
              </a:defRPr>
            </a:pPr>
            <a:r>
              <a:t>Back-running — нападач користи промену стања одмах после циљне трансакције.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202B38"/>
                </a:solidFill>
                <a:latin typeface="Aptos"/>
              </a:defRPr>
            </a:pPr>
            <a:r>
              <a:t>Sandwich — напад пре + корисничка трансакција + напад после.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202B38"/>
                </a:solidFill>
                <a:latin typeface="Aptos"/>
              </a:defRPr>
            </a:pPr>
            <a:r>
              <a:t>Код великих swap трансакција sandwich може погоршати цену и slippage.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5257800"/>
            <a:ext cx="3474720" cy="658368"/>
          </a:xfrm>
          <a:prstGeom prst="roundRect">
            <a:avLst/>
          </a:prstGeom>
          <a:solidFill>
            <a:srgbClr val="B94343"/>
          </a:solidFill>
          <a:ln>
            <a:solidFill>
              <a:srgbClr val="B9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  <a:latin typeface="Aptos"/>
              </a:defRPr>
            </a:pPr>
            <a:r>
              <a:t>Најдиректнија штета за корисника: sandwich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A8F"/>
                </a:solidFill>
                <a:latin typeface="Aptos"/>
              </a:defRPr>
            </a:pPr>
            <a:r>
              <a:t>Безбедносни изазови МЕВ напада и механизми заштите корисника у децентрализованим мрежама   •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C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C30"/>
                </a:solidFill>
                <a:latin typeface="Aptos Display"/>
              </a:defRPr>
            </a:pPr>
            <a:r>
              <a:t>5. Безбедносне последице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A8F"/>
                </a:solidFill>
                <a:latin typeface="Aptos"/>
              </a:defRPr>
            </a:pPr>
            <a:r>
              <a:t>Од једне лоше цене до системског проблема</a:t>
            </a:r>
          </a:p>
        </p:txBody>
      </p:sp>
      <p:pic>
        <p:nvPicPr>
          <p:cNvPr id="5" name="Picture 4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5074920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508760"/>
            <a:ext cx="54864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202B38"/>
                </a:solidFill>
                <a:latin typeface="Aptos"/>
              </a:defRPr>
            </a:pPr>
            <a:r>
              <a:t>Лошија извршна цена и повећан slippage.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202B38"/>
                </a:solidFill>
                <a:latin typeface="Aptos"/>
              </a:defRPr>
            </a:pPr>
            <a:r>
              <a:t>Економски губитак чак и када је трансакција потпуно валидна.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202B38"/>
                </a:solidFill>
                <a:latin typeface="Aptos"/>
              </a:defRPr>
            </a:pPr>
            <a:r>
              <a:t>Неравноправност учесника са различитим нивоом инфраструктуре и информација.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202B38"/>
                </a:solidFill>
                <a:latin typeface="Aptos"/>
              </a:defRPr>
            </a:pPr>
            <a:r>
              <a:t>Притисак ка концентрацији builder-а, relay-а и приватног order flow-а.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600">
                <a:solidFill>
                  <a:srgbClr val="202B38"/>
                </a:solidFill>
                <a:latin typeface="Aptos"/>
              </a:defRPr>
            </a:pPr>
            <a:r>
              <a:t>У екстремним случајевима: ризици за стабилност и консензус.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623560"/>
            <a:ext cx="5029200" cy="658368"/>
          </a:xfrm>
          <a:prstGeom prst="roundRect">
            <a:avLst/>
          </a:prstGeom>
          <a:solidFill>
            <a:srgbClr val="D68534"/>
          </a:solidFill>
          <a:ln>
            <a:solidFill>
              <a:srgbClr val="D68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8FAFC"/>
                </a:solidFill>
                <a:latin typeface="Aptos"/>
              </a:defRPr>
            </a:pPr>
            <a:r>
              <a:t>MEV је безбедносни, економски и архитектонски проблем.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A8F"/>
                </a:solidFill>
                <a:latin typeface="Aptos"/>
              </a:defRPr>
            </a:pPr>
            <a:r>
              <a:t>Безбедносни изазови МЕВ напада и механизми заштите корисника у децентрализованим мрежама   •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C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C30"/>
                </a:solidFill>
                <a:latin typeface="Aptos Display"/>
              </a:defRPr>
            </a:pPr>
            <a:r>
              <a:t>6. Механизми заштите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A8F"/>
                </a:solidFill>
                <a:latin typeface="Aptos"/>
              </a:defRPr>
            </a:pPr>
            <a:r>
              <a:t>Заштита се распоређује на више нивоа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83280" cy="1508760"/>
          </a:xfrm>
          <a:prstGeom prst="roundRect">
            <a:avLst/>
          </a:prstGeom>
          <a:solidFill>
            <a:srgbClr val="24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AFC"/>
                </a:solidFill>
                <a:latin typeface="Aptos"/>
              </a:defRPr>
            </a:pPr>
            <a:r>
              <a:t>Приватни mempool</a:t>
            </a:r>
          </a:p>
          <a:p>
            <a:pPr algn="ctr">
              <a:defRPr sz="1200">
                <a:solidFill>
                  <a:srgbClr val="F8FAFC"/>
                </a:solidFill>
                <a:latin typeface="Aptos"/>
              </a:defRPr>
            </a:pPr>
            <a:r>
              <a:t>смањује јавну видљивост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383280" cy="1508760"/>
          </a:xfrm>
          <a:prstGeom prst="roundRect">
            <a:avLst/>
          </a:prstGeom>
          <a:solidFill>
            <a:srgbClr val="3C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AFC"/>
                </a:solidFill>
                <a:latin typeface="Aptos"/>
              </a:defRPr>
            </a:pPr>
            <a:r>
              <a:t>Енкриптовани mempool</a:t>
            </a:r>
          </a:p>
          <a:p>
            <a:pPr algn="ctr">
              <a:defRPr sz="1200">
                <a:solidFill>
                  <a:srgbClr val="F8FAFC"/>
                </a:solidFill>
                <a:latin typeface="Aptos"/>
              </a:defRPr>
            </a:pPr>
            <a:r>
              <a:t>скрива садржај до одређивања редоследа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9" y="1417320"/>
            <a:ext cx="3383280" cy="1508760"/>
          </a:xfrm>
          <a:prstGeom prst="roundRect">
            <a:avLst/>
          </a:prstGeom>
          <a:solidFill>
            <a:srgbClr val="36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AFC"/>
                </a:solidFill>
                <a:latin typeface="Aptos"/>
              </a:defRPr>
            </a:pPr>
            <a:r>
              <a:t>Fair ordering</a:t>
            </a:r>
          </a:p>
          <a:p>
            <a:pPr algn="ctr">
              <a:defRPr sz="1200">
                <a:solidFill>
                  <a:srgbClr val="F8FAFC"/>
                </a:solidFill>
                <a:latin typeface="Aptos"/>
              </a:defRPr>
            </a:pPr>
            <a:r>
              <a:t>ограничава произвољно преуређивање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83280"/>
            <a:ext cx="3383280" cy="1508760"/>
          </a:xfrm>
          <a:prstGeom prst="roundRect">
            <a:avLst/>
          </a:prstGeom>
          <a:solidFill>
            <a:srgbClr val="D6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AFC"/>
                </a:solidFill>
                <a:latin typeface="Aptos"/>
              </a:defRPr>
            </a:pPr>
            <a:r>
              <a:t>PBS / MEV-Boost</a:t>
            </a:r>
          </a:p>
          <a:p>
            <a:pPr algn="ctr">
              <a:defRPr sz="1200">
                <a:solidFill>
                  <a:srgbClr val="F8FAFC"/>
                </a:solidFill>
                <a:latin typeface="Aptos"/>
              </a:defRPr>
            </a:pPr>
            <a:r>
              <a:t>раздваја builder и proposer улоге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383280"/>
            <a:ext cx="3383280" cy="1508760"/>
          </a:xfrm>
          <a:prstGeom prst="round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AFC"/>
                </a:solidFill>
                <a:latin typeface="Aptos"/>
              </a:defRPr>
            </a:pPr>
            <a:r>
              <a:t>DeFi заштита</a:t>
            </a:r>
          </a:p>
          <a:p>
            <a:pPr algn="ctr">
              <a:defRPr sz="1200">
                <a:solidFill>
                  <a:srgbClr val="F8FAFC"/>
                </a:solidFill>
                <a:latin typeface="Aptos"/>
              </a:defRPr>
            </a:pPr>
            <a:r>
              <a:t>slippage, batch auctions, intents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5623560"/>
            <a:ext cx="8321040" cy="658368"/>
          </a:xfrm>
          <a:prstGeom prst="roundRect">
            <a:avLst/>
          </a:prstGeom>
          <a:solidFill>
            <a:srgbClr val="0F1C30"/>
          </a:solidFill>
          <a:ln>
            <a:solidFill>
              <a:srgbClr val="0F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Ниједан механизам самостално не решава све облике MEV-а.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A8F"/>
                </a:solidFill>
                <a:latin typeface="Aptos"/>
              </a:defRPr>
            </a:pPr>
            <a:r>
              <a:t>Безбедносни изазови МЕВ напада и механизми заштите корисника у децентрализованим мрежама   •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C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C30"/>
                </a:solidFill>
                <a:latin typeface="Aptos Display"/>
              </a:defRPr>
            </a:pPr>
            <a:r>
              <a:t>7. Приватни и енкриптовани mempool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A8F"/>
                </a:solidFill>
                <a:latin typeface="Aptos"/>
              </a:defRPr>
            </a:pPr>
            <a:r>
              <a:t>Смањивање информационог цурења пре извршења</a:t>
            </a:r>
          </a:p>
        </p:txBody>
      </p:sp>
      <p:pic>
        <p:nvPicPr>
          <p:cNvPr id="5" name="Picture 4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66306"/>
            <a:ext cx="5257800" cy="1845761"/>
          </a:xfrm>
          <a:prstGeom prst="rect">
            <a:avLst/>
          </a:prstGeom>
        </p:spPr>
      </p:pic>
      <p:pic>
        <p:nvPicPr>
          <p:cNvPr id="6" name="Picture 5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2498981"/>
            <a:ext cx="5166360" cy="18130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371600" y="5074920"/>
            <a:ext cx="3291840" cy="594360"/>
          </a:xfrm>
          <a:prstGeom prst="roundRect">
            <a:avLst/>
          </a:prstGeom>
          <a:solidFill>
            <a:srgbClr val="245B91"/>
          </a:solidFill>
          <a:ln>
            <a:solidFill>
              <a:srgbClr val="24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Приватни mempool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5074920"/>
            <a:ext cx="3291840" cy="594360"/>
          </a:xfrm>
          <a:prstGeom prst="roundRect">
            <a:avLst/>
          </a:prstGeom>
          <a:solidFill>
            <a:srgbClr val="3CA0BE"/>
          </a:solidFill>
          <a:ln>
            <a:solidFill>
              <a:srgbClr val="3C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Енкриптовани mempool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715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300">
                <a:solidFill>
                  <a:srgbClr val="202B38"/>
                </a:solidFill>
                <a:latin typeface="Aptos"/>
              </a:defRPr>
            </a:pPr>
            <a:r>
              <a:t>Предност: мања изложеност front-running / sandwich нападима.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300">
                <a:solidFill>
                  <a:srgbClr val="202B38"/>
                </a:solidFill>
                <a:latin typeface="Aptos"/>
              </a:defRPr>
            </a:pPr>
            <a:r>
              <a:t>Компромиси: посредници, поверење, централизација и додатна сложеност.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A8F"/>
                </a:solidFill>
                <a:latin typeface="Aptos"/>
              </a:defRPr>
            </a:pPr>
            <a:r>
              <a:t>Безбедносни изазови МЕВ напада и механизми заштите корисника у децентрализованим мрежама   •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C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C30"/>
                </a:solidFill>
                <a:latin typeface="Aptos Display"/>
              </a:defRPr>
            </a:pPr>
            <a:r>
              <a:t>8. PBS, MEV-Boost и intent-based приступ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A8F"/>
                </a:solidFill>
                <a:latin typeface="Aptos"/>
              </a:defRPr>
            </a:pPr>
            <a:r>
              <a:t>Промена начина на који се гради и извршава трансакција</a:t>
            </a:r>
          </a:p>
        </p:txBody>
      </p:sp>
      <p:pic>
        <p:nvPicPr>
          <p:cNvPr id="5" name="Picture 4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5257800" cy="28146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640" y="1429352"/>
            <a:ext cx="5349240" cy="26746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508760" y="4983480"/>
            <a:ext cx="3429000" cy="594360"/>
          </a:xfrm>
          <a:prstGeom prst="roundRect">
            <a:avLst/>
          </a:prstGeom>
          <a:solidFill>
            <a:srgbClr val="D68534"/>
          </a:solidFill>
          <a:ln>
            <a:solidFill>
              <a:srgbClr val="D68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PBS / MEV-Boost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4983480"/>
            <a:ext cx="3429000" cy="594360"/>
          </a:xfrm>
          <a:prstGeom prst="roundRect">
            <a:avLst/>
          </a:prstGeom>
          <a:solidFill>
            <a:srgbClr val="3CA0BE"/>
          </a:solidFill>
          <a:ln>
            <a:solidFill>
              <a:srgbClr val="3C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Intent-based приступ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96128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200">
                <a:solidFill>
                  <a:srgbClr val="202B38"/>
                </a:solidFill>
                <a:latin typeface="Aptos"/>
              </a:defRPr>
            </a:pPr>
            <a:r>
              <a:t>PBS: builder оптимизује блок; proposer бира понуду.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200">
                <a:solidFill>
                  <a:srgbClr val="202B38"/>
                </a:solidFill>
                <a:latin typeface="Aptos"/>
              </a:defRPr>
            </a:pPr>
            <a:r>
              <a:t>Intent: корисник дефинише жељени исход, solver тражи начин реализације.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200">
                <a:solidFill>
                  <a:srgbClr val="202B38"/>
                </a:solidFill>
                <a:latin typeface="Aptos"/>
              </a:defRPr>
            </a:pPr>
            <a:r>
              <a:t>Оба приступа мењају економију MEV-а, али не уклањају све ризике.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A8F"/>
                </a:solidFill>
                <a:latin typeface="Aptos"/>
              </a:defRPr>
            </a:pPr>
            <a:r>
              <a:t>Безбедносни изазови МЕВ напада и механизми заштите корисника у децентрализованим мрежама   •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C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C30"/>
                </a:solidFill>
                <a:latin typeface="Aptos Display"/>
              </a:defRPr>
            </a:pPr>
            <a:r>
              <a:t>9. Квалитативно поређење механизама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A8F"/>
                </a:solidFill>
                <a:latin typeface="Aptos"/>
              </a:defRPr>
            </a:pPr>
            <a:r>
              <a:t>Оцене у раду нису универзалне нумеричке мере; зависе од имплементације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07442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Механизам</a:t>
                      </a:r>
                    </a:p>
                  </a:txBody>
                  <a:tcPr>
                    <a:solidFill>
                      <a:srgbClr val="0F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MEV заштита</a:t>
                      </a:r>
                    </a:p>
                  </a:txBody>
                  <a:tcPr>
                    <a:solidFill>
                      <a:srgbClr val="0F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Приватност</a:t>
                      </a:r>
                    </a:p>
                  </a:txBody>
                  <a:tcPr>
                    <a:solidFill>
                      <a:srgbClr val="0F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Децентрализација</a:t>
                      </a:r>
                    </a:p>
                  </a:txBody>
                  <a:tcPr>
                    <a:solidFill>
                      <a:srgbClr val="0F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Сложеност</a:t>
                      </a:r>
                    </a:p>
                  </a:txBody>
                  <a:tcPr>
                    <a:solidFill>
                      <a:srgbClr val="0F1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Private mempool</a:t>
                      </a:r>
                    </a:p>
                  </a:txBody>
                  <a:tcPr anchor="ctr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Висока</a:t>
                      </a:r>
                    </a:p>
                  </a:txBody>
                  <a:tcPr anchor="ctr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Висока</a:t>
                      </a:r>
                    </a:p>
                  </a:txBody>
                  <a:tcPr anchor="ctr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Средња</a:t>
                      </a:r>
                    </a:p>
                  </a:txBody>
                  <a:tcPr anchor="ctr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Средња</a:t>
                      </a:r>
                    </a:p>
                  </a:txBody>
                  <a:tcPr anchor="ctr">
                    <a:solidFill>
                      <a:srgbClr val="E2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Encrypted mempool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Висока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Веома висока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Средња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Висока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Fair ordering</a:t>
                      </a:r>
                    </a:p>
                  </a:txBody>
                  <a:tcPr anchor="ctr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Висока</a:t>
                      </a:r>
                    </a:p>
                  </a:txBody>
                  <a:tcPr anchor="ctr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Ниска–средња</a:t>
                      </a:r>
                    </a:p>
                  </a:txBody>
                  <a:tcPr anchor="ctr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Висока*</a:t>
                      </a:r>
                    </a:p>
                  </a:txBody>
                  <a:tcPr anchor="ctr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Висока</a:t>
                      </a:r>
                    </a:p>
                  </a:txBody>
                  <a:tcPr anchor="ctr">
                    <a:solidFill>
                      <a:srgbClr val="E2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MEV-Boost / PBS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Средња–висока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Ниска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Средња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Висока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Slippage ограничење</a:t>
                      </a:r>
                    </a:p>
                  </a:txBody>
                  <a:tcPr anchor="ctr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Висока†</a:t>
                      </a:r>
                    </a:p>
                  </a:txBody>
                  <a:tcPr anchor="ctr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Ниска</a:t>
                      </a:r>
                    </a:p>
                  </a:txBody>
                  <a:tcPr anchor="ctr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Висока</a:t>
                      </a:r>
                    </a:p>
                  </a:txBody>
                  <a:tcPr anchor="ctr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Ниска</a:t>
                      </a:r>
                    </a:p>
                  </a:txBody>
                  <a:tcPr anchor="ctr">
                    <a:solidFill>
                      <a:srgbClr val="E2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Batch auctions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Висока*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Средња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Средња–висока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Средња–висока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Intent-based</a:t>
                      </a:r>
                    </a:p>
                  </a:txBody>
                  <a:tcPr anchor="ctr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Средња–висока</a:t>
                      </a:r>
                    </a:p>
                  </a:txBody>
                  <a:tcPr anchor="ctr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Средња–висока</a:t>
                      </a:r>
                    </a:p>
                  </a:txBody>
                  <a:tcPr anchor="ctr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Средња</a:t>
                      </a:r>
                    </a:p>
                  </a:txBody>
                  <a:tcPr anchor="ctr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B38"/>
                          </a:solidFill>
                          <a:latin typeface="Aptos"/>
                        </a:defRPr>
                      </a:pPr>
                      <a:r>
                        <a:t>Висока</a:t>
                      </a:r>
                    </a:p>
                  </a:txBody>
                  <a:tcPr anchor="ctr">
                    <a:solidFill>
                      <a:srgbClr val="E2E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188720" y="5897880"/>
            <a:ext cx="9829800" cy="502920"/>
          </a:xfrm>
          <a:prstGeom prst="roundRect">
            <a:avLst/>
          </a:prstGeom>
          <a:solidFill>
            <a:srgbClr val="245B91"/>
          </a:solidFill>
          <a:ln>
            <a:solidFill>
              <a:srgbClr val="24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t>Главни компромиси: безбедност ↔ приватност ↔ децентрализација ↔ сложеност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A8F"/>
                </a:solidFill>
                <a:latin typeface="Aptos"/>
              </a:defRPr>
            </a:pPr>
            <a:r>
              <a:t>Безбедносни изазови МЕВ напада и механизми заштите корисника у децентрализованим мрежама   •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C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C30"/>
                </a:solidFill>
                <a:latin typeface="Aptos Display"/>
              </a:defRPr>
            </a:pPr>
            <a:r>
              <a:t>10. Слојевита заштита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A8F"/>
                </a:solidFill>
                <a:latin typeface="Aptos"/>
              </a:defRPr>
            </a:pPr>
            <a:r>
              <a:t>Најреалнији приступ је комбинација комплементарних мера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1325880"/>
            <a:ext cx="7543800" cy="3771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75320" y="1554480"/>
            <a:ext cx="3337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  <a:defRPr sz="1500">
                <a:solidFill>
                  <a:srgbClr val="202B38"/>
                </a:solidFill>
                <a:latin typeface="Aptos"/>
              </a:defRPr>
            </a:pPr>
            <a:r>
              <a:t>Слој приватности: сакрити осетљиве информације.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>
                <a:solidFill>
                  <a:srgbClr val="202B38"/>
                </a:solidFill>
                <a:latin typeface="Aptos"/>
              </a:defRPr>
            </a:pPr>
            <a:r>
              <a:t>Слој редоследа: ограничити дискрецију у преуређивању.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>
                <a:solidFill>
                  <a:srgbClr val="202B38"/>
                </a:solidFill>
                <a:latin typeface="Aptos"/>
              </a:defRPr>
            </a:pPr>
            <a:r>
              <a:t>Слој апликације: ограничити прихватљив губитак.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>
                <a:solidFill>
                  <a:srgbClr val="202B38"/>
                </a:solidFill>
                <a:latin typeface="Aptos"/>
              </a:defRPr>
            </a:pPr>
            <a:r>
              <a:t>Слој консензуса/изградње блока: смањити концентрацију и злоупотребу.</a:t>
            </a:r>
          </a:p>
          <a:p>
            <a:pPr>
              <a:lnSpc>
                <a:spcPct val="105000"/>
              </a:lnSpc>
              <a:spcAft>
                <a:spcPts val="1000"/>
              </a:spcAft>
              <a:defRPr sz="1500">
                <a:solidFill>
                  <a:srgbClr val="202B38"/>
                </a:solidFill>
                <a:latin typeface="Aptos"/>
              </a:defRPr>
            </a:pPr>
            <a:r>
              <a:t>Ако један слој не спречи напад, други ограничава његову последицу.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5669280"/>
            <a:ext cx="9555480" cy="621792"/>
          </a:xfrm>
          <a:prstGeom prst="roundRect">
            <a:avLst/>
          </a:prstGeom>
          <a:solidFill>
            <a:srgbClr val="36825C"/>
          </a:solidFill>
          <a:ln>
            <a:solidFill>
              <a:srgbClr val="368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  <a:latin typeface="Aptos"/>
              </a:defRPr>
            </a:pPr>
            <a:r>
              <a:t>Циљ: смањење штетног MEV-а без нарушавања основних својстава мреже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A8F"/>
                </a:solidFill>
                <a:latin typeface="Aptos"/>
              </a:defRPr>
            </a:pPr>
            <a:r>
              <a:t>Безбедносни изазови МЕВ напада и механизми заштите корисника у децентрализованим мрежама   •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C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11. Закључак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2E9F1"/>
                </a:solidFill>
                <a:latin typeface="Aptos"/>
              </a:defRPr>
            </a:pPr>
            <a:r>
              <a:t>Четири поруке које треба понети са одбране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325880"/>
            <a:ext cx="566928" cy="566928"/>
          </a:xfrm>
          <a:prstGeom prst="ellipse">
            <a:avLst/>
          </a:prstGeom>
          <a:solidFill>
            <a:srgbClr val="3C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307592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MEV произилази из комбинације транспарентности, програмбилности и контроле редоследа.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468880"/>
            <a:ext cx="566928" cy="566928"/>
          </a:xfrm>
          <a:prstGeom prst="ellipse">
            <a:avLst/>
          </a:prstGeom>
          <a:solidFill>
            <a:srgbClr val="3C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50592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Штетни MEV може погоршати цену, повећати slippage и нарушити правичност.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611880"/>
            <a:ext cx="566928" cy="566928"/>
          </a:xfrm>
          <a:prstGeom prst="ellipse">
            <a:avLst/>
          </a:prstGeom>
          <a:solidFill>
            <a:srgbClr val="3C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593592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Сваки механизам има компромисе — не постоји универзално решење.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754880"/>
            <a:ext cx="566928" cy="566928"/>
          </a:xfrm>
          <a:prstGeom prst="ellipse">
            <a:avLst/>
          </a:prstGeom>
          <a:solidFill>
            <a:srgbClr val="3C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736592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8FAFC"/>
                </a:solidFill>
                <a:latin typeface="Aptos"/>
              </a:defRPr>
            </a:pPr>
            <a:r>
              <a:t>Комбиновање протоколских, инфраструктурних и апликативних мера је најперспективније.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760720"/>
            <a:ext cx="10058400" cy="594360"/>
          </a:xfrm>
          <a:prstGeom prst="roundRect">
            <a:avLst/>
          </a:prstGeom>
          <a:solidFill>
            <a:srgbClr val="245B91"/>
          </a:solidFill>
          <a:ln>
            <a:solidFill>
              <a:srgbClr val="24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  <a:latin typeface="Aptos"/>
              </a:defRPr>
            </a:pPr>
            <a:r>
              <a:t>Будући правац: fair ordering • encrypted mempool • PBS • batch auctions • intent-based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2E9F1"/>
                </a:solidFill>
                <a:latin typeface="Aptos"/>
              </a:defRPr>
            </a:pPr>
            <a:r>
              <a:t>Безбедносни изазови МЕВ напада и механизми заштите корисника у децентрализованим мрежама   •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C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F1C30"/>
                </a:solidFill>
                <a:latin typeface="Aptos Display"/>
              </a:defRPr>
            </a:pPr>
            <a:r>
              <a:t>Хвала на пажњи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606040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45B91"/>
                </a:solidFill>
                <a:latin typeface="Aptos"/>
              </a:defRPr>
            </a:pPr>
            <a:r>
              <a:t>Питања и дискусија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3886200"/>
            <a:ext cx="6309360" cy="658368"/>
          </a:xfrm>
          <a:prstGeom prst="roundRect">
            <a:avLst/>
          </a:prstGeom>
          <a:solidFill>
            <a:srgbClr val="3CA0BE"/>
          </a:solidFill>
          <a:ln>
            <a:solidFill>
              <a:srgbClr val="3C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8FAFC"/>
                </a:solidFill>
                <a:latin typeface="Aptos"/>
              </a:defRPr>
            </a:pPr>
            <a:r>
              <a:t>Милан Д. Недић • Завршни рад •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A8F"/>
                </a:solidFill>
                <a:latin typeface="Aptos"/>
              </a:defRPr>
            </a:pPr>
            <a:r>
              <a:t>Безбедносни изазови МЕВ напада и механизми заштите корисника у децентрализованим мрежама   • 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908</Words>
  <Application>Microsoft Office PowerPoint</Application>
  <PresentationFormat>Widescreen</PresentationFormat>
  <Paragraphs>152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HP</cp:lastModifiedBy>
  <cp:revision>7</cp:revision>
  <dcterms:created xsi:type="dcterms:W3CDTF">2013-01-27T09:14:16Z</dcterms:created>
  <dcterms:modified xsi:type="dcterms:W3CDTF">2026-10-06T21:23:50Z</dcterms:modified>
  <cp:category/>
</cp:coreProperties>
</file>